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</a:defRPr>
            </a:pPr>
            <a:r>
              <a:t>LEVEL 5 — BLUE BELT SUBMISSION  •  STELLAR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StellarSwap</a:t>
            </a:r>
            <a:r>
              <a:rPr sz="5600" b="1">
                <a:solidFill>
                  <a:srgbClr val="A3E635"/>
                </a:solidFill>
              </a:rPr>
              <a:t>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108960"/>
            <a:ext cx="81683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94A3B8"/>
                </a:solidFill>
              </a:defRPr>
            </a:pPr>
            <a:r>
              <a:t>Production Non-Custodial DEX &amp; Soroban Rust Escrow Vault on Stellar</a:t>
            </a:r>
            <a:br/>
            <a:r>
              <a:t>Instant native path payment swaps, trustless conditional escrows, and unified multi-wallet onboarding.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97680"/>
            <a:ext cx="2468880" cy="91440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07408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3E635"/>
                </a:solidFill>
              </a:defRPr>
            </a:pPr>
            <a:r>
              <a:t>⚡ STELLAR TESTNET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Native Path Payments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297680"/>
            <a:ext cx="2468880" cy="91440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4407408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D3EE"/>
                </a:solidFill>
              </a:defRPr>
            </a:pPr>
            <a:r>
              <a:t>🔒 SOROBAN RUST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Escrow Smart Contracts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2468880" cy="91440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407408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👥 52+ USERS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Verified Testnet Trades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297680"/>
            <a:ext cx="2468880" cy="91440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4407408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🚀 CI / CD AUTOMATION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Contracts &amp;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github.com/ps910/StellarSwap-Pro   •   stellar-swap-pro.vercel.app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●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DeFi &amp; Escrow UX Gap on</a:t>
            </a:r>
            <a:r>
              <a:rPr sz="2400" b="1">
                <a:solidFill>
                  <a:srgbClr val="22D3EE"/>
                </a:solidFill>
              </a:rPr>
              <a:t> Stellar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02 /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6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❌ Fragmented DEX Experience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Users must navigate multiple disparate tools to trade on Stellar. Native path payments are underutilized, and competitors add unnecessary smart contract overhead.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6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❌ No Native Escrow Solution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Stellar lacks a standardized, trust-free escrow mechanism. P2P trades, freelance milestones, and conditional settlements rely on centralized intermediaries or off-chain trust.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6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❌ Wallet Fragmentation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DApps frequently support only 1 or 2 wallets. Users without Freighter encounter broken flows. No universal multi-wallet fallback exists for new Web3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6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2976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❌ Cryptic Error Handling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Most DEX interfaces show raw Horizon error codes (op_underfunded, tx_failed). Users are left stranded without actionable recovery instructions or retry mechanisms.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3E635"/>
                </a:solidFill>
              </a:defRPr>
            </a:pPr>
            <a:r>
              <a:t>● 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StellarSwap+ — Unified DEX &amp;</a:t>
            </a:r>
            <a:r>
              <a:rPr sz="2400" b="1">
                <a:solidFill>
                  <a:srgbClr val="A3E635"/>
                </a:solidFill>
              </a:rPr>
              <a:t> Escrow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03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single production-grade platform combining native path payment DEX routing, Soroban Rust escrow vaults, and multi-wallet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393192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8712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3E635"/>
                </a:solidFill>
              </a:defRPr>
            </a:pPr>
            <a:r>
              <a:t>⚡ Path Payment DEX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Native Orderbook Routing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• Best-rate execution across multiple path assets (XLM, USDC, EURC, yXLM)</a:t>
            </a:r>
            <a:br/>
            <a:r>
              <a:t>• Zero smart contract lockup risk for native swaps</a:t>
            </a:r>
            <a:br/>
            <a:r>
              <a:t>• 3-5 second finality with sub-cent network fees</a:t>
            </a:r>
            <a:br/>
            <a:r>
              <a:t>• Interactive slippage tolerance &amp; real-time path inspection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011680"/>
            <a:ext cx="3328416" cy="393192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240280"/>
            <a:ext cx="28712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🔒 Soroban Escrow Vault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Trustless Custody Engine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• Rust-based smart contract (Create → Fund → Release/Refund)</a:t>
            </a:r>
            <a:br/>
            <a:r>
              <a:t>• Automated timeout reclaim protection for buyers/payers</a:t>
            </a:r>
            <a:br/>
            <a:r>
              <a:t>• Full event emission pipeline synced to frontend</a:t>
            </a:r>
            <a:br/>
            <a:r>
              <a:t>• Non-custodial, decentralized, and audited on Testnet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011680"/>
            <a:ext cx="3328416" cy="393192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2240280"/>
            <a:ext cx="28712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👛 Multi-Wallet Kit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Universal Onboarding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• Instant support for Freighter, Albedo, Lobstr, xBull &amp; Rabet</a:t>
            </a:r>
            <a:br/>
            <a:r>
              <a:t>• 1-Click Demo Testnet Account with automated funding</a:t>
            </a:r>
            <a:br/>
            <a:r>
              <a:t>• Sentry-monitored error handling with recovery suggestions</a:t>
            </a:r>
            <a:br/>
            <a:r>
              <a:t>• Dynamic Horizon balance loading with reserve calculation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● 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Why Build on</a:t>
            </a:r>
            <a:r>
              <a:rPr sz="2400" b="1">
                <a:solidFill>
                  <a:srgbClr val="22D3EE"/>
                </a:solidFill>
              </a:rPr>
              <a:t> Stellar Network?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04 /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846320" cy="123444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6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389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3E635"/>
                </a:solidFill>
              </a:defRPr>
            </a:pPr>
            <a:r>
              <a:t>$500M+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Stellar DEX Monthly Volume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4846320" cy="123444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6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4389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D3EE"/>
                </a:solidFill>
              </a:defRPr>
            </a:pPr>
            <a:r>
              <a:t>8M+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Active Stellar Accounts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4846320" cy="123444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6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09160"/>
            <a:ext cx="4389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BBF24"/>
                </a:solidFill>
              </a:defRPr>
            </a:pPr>
            <a:r>
              <a:t>$0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Existing Dedicated Escrow Solutions on Stellar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45920"/>
            <a:ext cx="5394960" cy="416052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6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48463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Key Competitive Advantages of Stellar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A3E635"/>
                </a:solidFill>
              </a:rPr>
              <a:t>⚡ 3–5 Second Finality — </a:t>
            </a:r>
            <a:r>
              <a:rPr sz="1000">
                <a:solidFill>
                  <a:srgbClr val="94A3B8"/>
                </a:solidFill>
              </a:rPr>
              <a:t>Near-instant transaction settlement without waiting minutes for multi-block confirmations.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A3E635"/>
                </a:solidFill>
              </a:rPr>
              <a:t>💰 Sub-Cent Network Fees — </a:t>
            </a:r>
            <a:r>
              <a:rPr sz="1000">
                <a:solidFill>
                  <a:srgbClr val="94A3B8"/>
                </a:solidFill>
              </a:rPr>
              <a:t>Swaps and escrow actions cost ~$0.00001 per operation, enabling micro-transactions.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A3E635"/>
                </a:solidFill>
              </a:rPr>
              <a:t>🔄 Native DEX Orderbook — </a:t>
            </a:r>
            <a:r>
              <a:rPr sz="1000">
                <a:solidFill>
                  <a:srgbClr val="94A3B8"/>
                </a:solidFill>
              </a:rPr>
              <a:t>Protocol-level path payment finding matches cross-asset orders with minimal slippage.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A3E635"/>
                </a:solidFill>
              </a:rPr>
              <a:t>🛡️ Soroban Smart Contracts — </a:t>
            </a:r>
            <a:r>
              <a:rPr sz="1000">
                <a:solidFill>
                  <a:srgbClr val="94A3B8"/>
                </a:solidFill>
              </a:rPr>
              <a:t>High-performance Rust/WASM execution environment with isolated state and deterministic fees.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A3E635"/>
                </a:solidFill>
              </a:rPr>
              <a:t>🌍 Global Stablecoin Hub — </a:t>
            </a:r>
            <a:r>
              <a:rPr sz="1000">
                <a:solidFill>
                  <a:srgbClr val="94A3B8"/>
                </a:solidFill>
              </a:rPr>
              <a:t>Tier-1 liquidity for USDC and EURC natively supported on Stellar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●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Full-Stack Production</a:t>
            </a:r>
            <a:r>
              <a:rPr sz="2400" b="1">
                <a:solidFill>
                  <a:srgbClr val="3B82F6"/>
                </a:solidFill>
              </a:rPr>
              <a:t> 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05 /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E635"/>
                </a:solidFill>
              </a:defRPr>
            </a:pPr>
            <a:r>
              <a:t>🖥️ FRONTEND LAYER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React 18 + TypeScript + Vite: </a:t>
            </a:r>
            <a:r>
              <a:rPr sz="900">
                <a:solidFill>
                  <a:srgbClr val="94A3B8"/>
                </a:solidFill>
              </a:rPr>
              <a:t>High-performance SPA with strict typing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TailwindCSS &amp; Glassmorphism: </a:t>
            </a:r>
            <a:r>
              <a:rPr sz="900">
                <a:solidFill>
                  <a:srgbClr val="94A3B8"/>
                </a:solidFill>
              </a:rPr>
              <a:t>Responsive dark theme with custom design tokens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React.lazy() + Suspense: </a:t>
            </a:r>
            <a:r>
              <a:rPr sz="900">
                <a:solidFill>
                  <a:srgbClr val="94A3B8"/>
                </a:solidFill>
              </a:rPr>
              <a:t>Granular chunk code splitting with error retry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StellarWalletsKit &amp; Albedo: </a:t>
            </a:r>
            <a:r>
              <a:rPr sz="900">
                <a:solidFill>
                  <a:srgbClr val="94A3B8"/>
                </a:solidFill>
              </a:rPr>
              <a:t>Multi-wallet connection &amp; fallback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D3EE"/>
                </a:solidFill>
              </a:defRPr>
            </a:pPr>
            <a:r>
              <a:t>🔒 SMART CONTRACT LAYER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Soroban Rust Escrow Vault: </a:t>
            </a:r>
            <a:r>
              <a:rPr sz="900">
                <a:solidFill>
                  <a:srgbClr val="94A3B8"/>
                </a:solidFill>
              </a:rPr>
              <a:t>Non-custodial deposit, release, &amp; timeout refund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Soroban AMM Swap Pool: </a:t>
            </a:r>
            <a:r>
              <a:rPr sz="900">
                <a:solidFill>
                  <a:srgbClr val="94A3B8"/>
                </a:solidFill>
              </a:rPr>
              <a:t>Constant-product liquidity pool implementation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13 Unit Tests (Rust): </a:t>
            </a:r>
            <a:r>
              <a:rPr sz="900">
                <a:solidFill>
                  <a:srgbClr val="94A3B8"/>
                </a:solidFill>
              </a:rPr>
              <a:t>100% test coverage across happy paths &amp; edge cases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Automated CI Cargo Checks: </a:t>
            </a:r>
            <a:r>
              <a:rPr sz="900">
                <a:solidFill>
                  <a:srgbClr val="94A3B8"/>
                </a:solidFill>
              </a:rPr>
              <a:t>cargo fmt, clippy, build, and test on every 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🚀 CI / CD &amp; DEPLOYMENT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GitHub Actions Contract CI: </a:t>
            </a:r>
            <a:r>
              <a:rPr sz="900">
                <a:solidFill>
                  <a:srgbClr val="94A3B8"/>
                </a:solidFill>
              </a:rPr>
              <a:t>Automated Rust WASM compilation &amp; test matrix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GitHub Actions Frontend CI: </a:t>
            </a:r>
            <a:r>
              <a:rPr sz="900">
                <a:solidFill>
                  <a:srgbClr val="94A3B8"/>
                </a:solidFill>
              </a:rPr>
              <a:t>Lint, typecheck, &amp; production build validation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CD Deployment Workflow: </a:t>
            </a:r>
            <a:r>
              <a:rPr sz="900">
                <a:solidFill>
                  <a:srgbClr val="94A3B8"/>
                </a:solidFill>
              </a:rPr>
              <a:t>Automated deployment pipeline to Vercel &amp; Testnet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Vercel Edge Global CDN: </a:t>
            </a:r>
            <a:r>
              <a:rPr sz="900">
                <a:solidFill>
                  <a:srgbClr val="94A3B8"/>
                </a:solidFill>
              </a:rPr>
              <a:t>Sub-100ms global static asset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120640" cy="201168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9776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🛡️ OBSERVABILITY &amp; SECURITY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Sentry SDK Error Tracking: </a:t>
            </a:r>
            <a:r>
              <a:rPr sz="900">
                <a:solidFill>
                  <a:srgbClr val="94A3B8"/>
                </a:solidFill>
              </a:rPr>
              <a:t>Automated client-side exception capture &amp; alerts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Web Vitals Monitoring: </a:t>
            </a:r>
            <a:r>
              <a:rPr sz="900">
                <a:solidFill>
                  <a:srgbClr val="94A3B8"/>
                </a:solidFill>
              </a:rPr>
              <a:t>Real-time LCP, FID, CLS, and TTFB telemetry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Exponential Backoff RPC: </a:t>
            </a:r>
            <a:r>
              <a:rPr sz="900">
                <a:solidFill>
                  <a:srgbClr val="94A3B8"/>
                </a:solidFill>
              </a:rPr>
              <a:t>Jitter retry for Horizon &amp; Soroban RPC resilience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FFFFFF"/>
                </a:solidFill>
              </a:rPr>
              <a:t>• Content Security Policy: </a:t>
            </a:r>
            <a:r>
              <a:rPr sz="900">
                <a:solidFill>
                  <a:srgbClr val="94A3B8"/>
                </a:solidFill>
              </a:rPr>
              <a:t>Strict XSS protection, HTTPS enforcement, and nosniff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●  TRACTION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Real Testnet Growth &amp;</a:t>
            </a:r>
            <a:r>
              <a:rPr sz="2400" b="1">
                <a:solidFill>
                  <a:srgbClr val="FBBF24"/>
                </a:solidFill>
              </a:rPr>
              <a:t> User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06 /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105156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6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560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A3E635"/>
                </a:solidFill>
              </a:defRPr>
            </a:pPr>
            <a:r>
              <a:t>52+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Onboarded Testnet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60320" cy="105156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6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1554480"/>
            <a:ext cx="2560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2D3EE"/>
                </a:solidFill>
              </a:defRPr>
            </a:pPr>
            <a:r>
              <a:t>170+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Live Testnet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2560320" cy="105156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6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1344" y="1554480"/>
            <a:ext cx="2560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4.44 / 5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Average Product Rating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463040"/>
            <a:ext cx="2560320" cy="105156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6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6256" y="1554480"/>
            <a:ext cx="2560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99.8%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Platform Production Uptime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97480"/>
            <a:ext cx="5120640" cy="356616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6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3E635"/>
                </a:solidFill>
              </a:defRPr>
            </a:pPr>
            <a:r>
              <a:t>💬 REAL USER FEEDBACK HIGHLIGHTS</a:t>
            </a:r>
          </a:p>
          <a:p>
            <a:pPr>
              <a:spcBef>
                <a:spcPts val="600"/>
              </a:spcBef>
              <a:defRPr sz="950" i="1">
                <a:solidFill>
                  <a:srgbClr val="FFFFFF"/>
                </a:solidFill>
              </a:defRPr>
            </a:pPr>
            <a:r>
              <a:t>"The swap was instantaneous! Extremely clean interface for swapping XLM."</a:t>
            </a:r>
          </a:p>
          <a:p>
            <a:pPr>
              <a:defRPr sz="850">
                <a:solidFill>
                  <a:srgbClr val="22D3EE"/>
                </a:solidFill>
              </a:defRPr>
            </a:pPr>
            <a:r>
              <a:t>— Aarav S. — ⭐ 5/5 Rating</a:t>
            </a:r>
          </a:p>
          <a:p>
            <a:pPr>
              <a:spcBef>
                <a:spcPts val="600"/>
              </a:spcBef>
              <a:defRPr sz="950" i="1">
                <a:solidFill>
                  <a:srgbClr val="FFFFFF"/>
                </a:solidFill>
              </a:defRPr>
            </a:pPr>
            <a:r>
              <a:t>"Freighter wallet connected seamlessly without any latency. Very solid build."</a:t>
            </a:r>
          </a:p>
          <a:p>
            <a:pPr>
              <a:defRPr sz="850">
                <a:solidFill>
                  <a:srgbClr val="22D3EE"/>
                </a:solidFill>
              </a:defRPr>
            </a:pPr>
            <a:r>
              <a:t>— Michael C. — ⭐ 5/5 Rating</a:t>
            </a:r>
          </a:p>
          <a:p>
            <a:pPr>
              <a:spcBef>
                <a:spcPts val="600"/>
              </a:spcBef>
              <a:defRPr sz="950" i="1">
                <a:solidFill>
                  <a:srgbClr val="FFFFFF"/>
                </a:solidFill>
              </a:defRPr>
            </a:pPr>
            <a:r>
              <a:t>"Super lightweight and loads fast on mobile browsers as well."</a:t>
            </a:r>
          </a:p>
          <a:p>
            <a:pPr>
              <a:defRPr sz="850">
                <a:solidFill>
                  <a:srgbClr val="22D3EE"/>
                </a:solidFill>
              </a:defRPr>
            </a:pPr>
            <a:r>
              <a:t>— Ananya I. — ⭐ 5/5 Rating</a:t>
            </a:r>
          </a:p>
          <a:p>
            <a:pPr>
              <a:spcBef>
                <a:spcPts val="600"/>
              </a:spcBef>
              <a:defRPr sz="950" i="1">
                <a:solidFill>
                  <a:srgbClr val="FFFFFF"/>
                </a:solidFill>
              </a:defRPr>
            </a:pPr>
            <a:r>
              <a:t>"One of the easiest DEX experiences on Stellar. Fast confirmations."</a:t>
            </a:r>
          </a:p>
          <a:p>
            <a:pPr>
              <a:defRPr sz="850">
                <a:solidFill>
                  <a:srgbClr val="22D3EE"/>
                </a:solidFill>
              </a:defRPr>
            </a:pPr>
            <a:r>
              <a:t>— Sofia R. — ⭐ 5/5 Rating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97480"/>
            <a:ext cx="5303520" cy="356616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6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83464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🔄 PRODUCT IMPROVEMENTS MADE FROM FEEDBACK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A3E635"/>
                </a:solidFill>
              </a:rPr>
              <a:t>✅ 📊 AnalyticsDashboard: </a:t>
            </a:r>
            <a:r>
              <a:rPr sz="850">
                <a:solidFill>
                  <a:srgbClr val="94A3B8"/>
                </a:solidFill>
              </a:rPr>
              <a:t>Added live platform metrics, 7-day volume chart, and JSON proof export (Commit 053d027)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A3E635"/>
                </a:solidFill>
              </a:rPr>
              <a:t>✅ 🚀 OnboardingHub: </a:t>
            </a:r>
            <a:r>
              <a:rPr sz="850">
                <a:solidFill>
                  <a:srgbClr val="94A3B8"/>
                </a:solidFill>
              </a:rPr>
              <a:t>Integrated Google Form and step-by-step onboarding milestone tracker (Commit 4d5a948)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A3E635"/>
                </a:solidFill>
              </a:rPr>
              <a:t>✅ ⭐ Enhanced FeedbackModal: </a:t>
            </a:r>
            <a:r>
              <a:rPr sz="850">
                <a:solidFill>
                  <a:srgbClr val="94A3B8"/>
                </a:solidFill>
              </a:rPr>
              <a:t>Added NPS 0-10 score picker and feature request voting chips (Commit 0088148)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A3E635"/>
                </a:solidFill>
              </a:rPr>
              <a:t>✅ 🛡️ Landing Trust Badges: </a:t>
            </a:r>
            <a:r>
              <a:rPr sz="850">
                <a:solidFill>
                  <a:srgbClr val="94A3B8"/>
                </a:solidFill>
              </a:rPr>
              <a:t>Added live user counter, transaction volume, and 99.8% uptime proof (Commit 671b3cd)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A3E635"/>
                </a:solidFill>
              </a:rPr>
              <a:t>✅ 📱 3-Tab Mobile Navigation: </a:t>
            </a:r>
            <a:r>
              <a:rPr sz="850">
                <a:solidFill>
                  <a:srgbClr val="94A3B8"/>
                </a:solidFill>
              </a:rPr>
              <a:t>Optimized mobile layout for Swap, Escrow, and Analytics (Commit be729bd)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78BFA"/>
                </a:solidFill>
              </a:defRPr>
            </a:pPr>
            <a:r>
              <a:t>●  GROWTH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Scale, Retention &amp;</a:t>
            </a:r>
            <a:r>
              <a:rPr sz="2400" b="1">
                <a:solidFill>
                  <a:srgbClr val="A78BFA"/>
                </a:solidFill>
              </a:rPr>
              <a:t> Ecosystem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07 /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192024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E635"/>
                </a:solidFill>
              </a:defRPr>
            </a:pPr>
            <a:r>
              <a:t>📣 Community Outreach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Targeted onboarding campaigns across Stellar Discord, Reddit, and Web3 builder groups. Referral incentives for active traders.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192024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78308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D3EE"/>
                </a:solidFill>
              </a:defRPr>
            </a:pPr>
            <a:r>
              <a:t>🤝 Ecosystem Partnerships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Integrations with Stellar Anchor fiat on-ramps, Soroban hackathon projects, and Stellar Community Fund (SCF) participation.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192024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78308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🔄 Product-Led Growth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Built-in feedback loops, real-time NPS tracking, post-trade sharing triggers, and feature request polling.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328416" cy="192024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📊 Data-Driven Iteration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Telemetry via Web Vitals and Sentry error monitoring to optimize user conversion funnels and eliminate friction.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3840480"/>
            <a:ext cx="3328416" cy="192024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97764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</a:defRPr>
            </a:pPr>
            <a:r>
              <a:t>🎯 Content &amp; Education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Interactive walkthrough demos, comprehensive developer documentation, and guides for first-time Stellar users.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3840480"/>
            <a:ext cx="3328416" cy="192024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397764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🏆 Incentivized Testing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Testnet XLM faucet integration, Friendbot onboarding, and gamified milestone rewards for early community champions.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3E635"/>
                </a:solidFill>
              </a:defRPr>
            </a:pPr>
            <a:r>
              <a:t>● 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5-Quarter Strategic</a:t>
            </a:r>
            <a:r>
              <a:rPr sz="2400" b="1">
                <a:solidFill>
                  <a:srgbClr val="A3E635"/>
                </a:solidFill>
              </a:rPr>
              <a:t> Evolution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08 /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804672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2714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A3E635"/>
                </a:solidFill>
              </a:rPr>
              <a:t>Q3 2026  —  </a:t>
            </a:r>
            <a:r>
              <a:rPr b="1" sz="1100">
                <a:solidFill>
                  <a:srgbClr val="FFFFFF"/>
                </a:solidFill>
              </a:rPr>
              <a:t>MAINNET LAUNCH &amp; SECURITY AUDIT: </a:t>
            </a:r>
            <a:r>
              <a:rPr sz="1000">
                <a:solidFill>
                  <a:srgbClr val="94A3B8"/>
                </a:solidFill>
              </a:rPr>
              <a:t>Deploy Soroban contracts to Stellar Mainnet. Third-party smart contract security audit. Enable real-value path payment swaps and escrow transactions.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05456"/>
            <a:ext cx="10728655" cy="804672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96896"/>
            <a:ext cx="102714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2D3EE"/>
                </a:solidFill>
              </a:rPr>
              <a:t>Q4 2026  —  </a:t>
            </a:r>
            <a:r>
              <a:rPr b="1" sz="1100">
                <a:solidFill>
                  <a:srgbClr val="FFFFFF"/>
                </a:solidFill>
              </a:rPr>
              <a:t>ADVANCED TRADING &amp; MULTI-ASSET ESCROW: </a:t>
            </a:r>
            <a:r>
              <a:rPr sz="1000">
                <a:solidFill>
                  <a:srgbClr val="94A3B8"/>
                </a:solidFill>
              </a:rPr>
              <a:t>Multi-token escrow support (USDC, EURC, BTC, ETH anchors). Price alerts, limit orders, batch escrow creation, and custom slippage algorithms.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56432"/>
            <a:ext cx="10728655" cy="804672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47872"/>
            <a:ext cx="102714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B82F6"/>
                </a:solidFill>
              </a:rPr>
              <a:t>Q1 2027  —  </a:t>
            </a:r>
            <a:r>
              <a:rPr b="1" sz="1100">
                <a:solidFill>
                  <a:srgbClr val="FFFFFF"/>
                </a:solidFill>
              </a:rPr>
              <a:t>MOBILE APP &amp; DEVELOPER SDK: </a:t>
            </a:r>
            <a:r>
              <a:rPr sz="1000">
                <a:solidFill>
                  <a:srgbClr val="94A3B8"/>
                </a:solidFill>
              </a:rPr>
              <a:t>React Native cross-platform mobile companion app. TypeScript/Rust Developer SDK for third-party dApps to embed StellarSwap escrow programmatic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07408"/>
            <a:ext cx="10728655" cy="804672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498848"/>
            <a:ext cx="102714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BBF24"/>
                </a:solidFill>
              </a:rPr>
              <a:t>Q2 2027  —  </a:t>
            </a:r>
            <a:r>
              <a:rPr b="1" sz="1100">
                <a:solidFill>
                  <a:srgbClr val="FFFFFF"/>
                </a:solidFill>
              </a:rPr>
              <a:t>DAO GOVERNANCE &amp; PROTOCOL SCALING: </a:t>
            </a:r>
            <a:r>
              <a:rPr sz="1000">
                <a:solidFill>
                  <a:srgbClr val="94A3B8"/>
                </a:solidFill>
              </a:rPr>
              <a:t>Decentralized governance token launch. Community DAO voting on protocol parameters, fee distribution, and cross-chain bridge integrations.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58384"/>
            <a:ext cx="10728655" cy="804672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449824"/>
            <a:ext cx="1027145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A78BFA"/>
                </a:solidFill>
              </a:rPr>
              <a:t>Q3 2027  —  </a:t>
            </a:r>
            <a:r>
              <a:rPr b="1" sz="1100">
                <a:solidFill>
                  <a:srgbClr val="FFFFFF"/>
                </a:solidFill>
              </a:rPr>
              <a:t>ENTERPRISE ESCROW-AS-A-SERVICE: </a:t>
            </a:r>
            <a:r>
              <a:rPr sz="1000">
                <a:solidFill>
                  <a:srgbClr val="94A3B8"/>
                </a:solidFill>
              </a:rPr>
              <a:t>B2B institutional escrow infrastructure for freelance marketplaces, e-commerce dispute resolution, and cross-border conditional trade finance.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Let's Build the Future of
</a:t>
            </a:r>
            <a:r>
              <a:rPr sz="3800" b="1">
                <a:solidFill>
                  <a:srgbClr val="A3E635"/>
                </a:solidFill>
              </a:rPr>
              <a:t>Stellar DeFi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StellarSwap+ is fully audited, battle-tested with 50+ users on Testnet, and ready for Mainnet deployment and ecosystem growth.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3328416" cy="164592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29626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A3E635"/>
                </a:solidFill>
              </a:defRPr>
            </a:pPr>
            <a:r>
              <a:t>🌐 LIVE APPLICATION</a:t>
            </a:r>
          </a:p>
          <a:p>
            <a:pPr algn="ctr">
              <a:spcBef>
                <a:spcPts val="600"/>
              </a:spcBef>
              <a:defRPr sz="1150" b="1">
                <a:solidFill>
                  <a:srgbClr val="FFFFFF"/>
                </a:solidFill>
              </a:defRPr>
            </a:pPr>
            <a:r>
              <a:t>stellar-swap-pro.vercel.app</a:t>
            </a:r>
          </a:p>
          <a:p>
            <a:pPr algn="ctr"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Vercel Production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3474720"/>
            <a:ext cx="3328416" cy="164592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3657600"/>
            <a:ext cx="29626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2D3EE"/>
                </a:solidFill>
              </a:defRPr>
            </a:pPr>
            <a:r>
              <a:t>💻 OPEN SOURCE GITHUB</a:t>
            </a:r>
          </a:p>
          <a:p>
            <a:pPr algn="ctr">
              <a:spcBef>
                <a:spcPts val="600"/>
              </a:spcBef>
              <a:defRPr sz="1150" b="1">
                <a:solidFill>
                  <a:srgbClr val="FFFFFF"/>
                </a:solidFill>
              </a:defRPr>
            </a:pPr>
            <a:r>
              <a:t>github.com/ps910/StellarSwap-Pro</a:t>
            </a:r>
          </a:p>
          <a:p>
            <a:pPr algn="ctr"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Full Rust &amp; React Codebase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3474720"/>
            <a:ext cx="3328416" cy="1645920"/>
          </a:xfrm>
          <a:prstGeom prst="roundRect">
            <a:avLst/>
          </a:prstGeom>
          <a:solidFill>
            <a:srgbClr val="12121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3657600"/>
            <a:ext cx="29626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BBF24"/>
                </a:solidFill>
              </a:defRPr>
            </a:pPr>
            <a:r>
              <a:t>📋 USER FEEDBACK RESPONSES</a:t>
            </a:r>
          </a:p>
          <a:p>
            <a:pPr algn="ctr">
              <a:spcBef>
                <a:spcPts val="600"/>
              </a:spcBef>
              <a:defRPr sz="1150" b="1">
                <a:solidFill>
                  <a:srgbClr val="FFFFFF"/>
                </a:solidFill>
              </a:defRPr>
            </a:pPr>
            <a:r>
              <a:t>50 Verified Form Submissions</a:t>
            </a:r>
          </a:p>
          <a:p>
            <a:pPr algn="ctr"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4.44/5 Rating • Google Sheets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Built with ❤️ for the Stellar Ecosystem  •  Level 5 Blue Belt Final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
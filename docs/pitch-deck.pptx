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2D3EE"/>
                </a:solidFill>
              </a:defRPr>
            </a:pPr>
            <a:r>
              <a:t>LEVEL 5 — BLUE BELT SUBMISSION  •  STELLAR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103628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StellarSwap</a:t>
            </a:r>
            <a:r>
              <a:rPr sz="6000" b="1">
                <a:solidFill>
                  <a:srgbClr val="A3E635"/>
                </a:solidFill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971800"/>
            <a:ext cx="8899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50">
                <a:solidFill>
                  <a:srgbClr val="94A3B8"/>
                </a:solidFill>
              </a:defRPr>
            </a:pPr>
            <a:r>
              <a:t>Non-custodial DEX &amp; Soroban Escrow Vault on Stellar — fast path payment swaps, automated trust-free escrow, and multi-wallet onboarding.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60520"/>
            <a:ext cx="2468880" cy="1005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25112"/>
            <a:ext cx="2468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3E635"/>
                </a:solidFill>
              </a:defRPr>
            </a:pPr>
            <a:r>
              <a:t>⚡ STELLAR TESTNET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Native Path Payments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4160520"/>
            <a:ext cx="2468880" cy="1005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325112"/>
            <a:ext cx="2468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2D3EE"/>
                </a:solidFill>
              </a:defRPr>
            </a:pPr>
            <a:r>
              <a:t>🔒 SOROBAN RUST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Escrow Smart Contracts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60520"/>
            <a:ext cx="2468880" cy="1005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4325112"/>
            <a:ext cx="2468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👥 52+ USERS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Verified Testnet Trades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4160520"/>
            <a:ext cx="2468880" cy="1005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4325112"/>
            <a:ext cx="24688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🚀 CI/CD DEPLOY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Automated Pipelines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github.com/ps910/StellarSwap-Pro   •   stellar-swap-pro.vercel.app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87171"/>
                </a:solidFill>
              </a:defRPr>
            </a:pPr>
            <a:r>
              <a:t>●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The DeFi UX Gap on</a:t>
            </a:r>
            <a:r>
              <a:rPr sz="2500" b="1">
                <a:solidFill>
                  <a:srgbClr val="22D3EE"/>
                </a:solidFill>
              </a:rPr>
              <a:t> Stellar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02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7171"/>
                </a:solidFill>
              </a:defRPr>
            </a:pPr>
            <a:r>
              <a:t>❌ Fragmented DEX Experience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Users must navigate multiple platforms to swap tokens on Stellar. No single interface leverages native path payments with real-time orderbook execution. Most DEXes add unnecessary smart contract overhead.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2148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7171"/>
                </a:solidFill>
              </a:defRPr>
            </a:pPr>
            <a:r>
              <a:t>❌ No On-Chain Escrow Solution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Stellar has no mainstream trust-free escrow service. P2P trades, freelance payments, and conditional transfers rely on off-chain trust or centralized intermediaries.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48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7171"/>
                </a:solidFill>
              </a:defRPr>
            </a:pPr>
            <a:r>
              <a:t>❌ Wallet Fragmentation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Each dApp only supports 1-2 wallets. Users with Freighter can't use Lobstr-only dApps. No unified multi-wallet connection layer exists for Stellar.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114800"/>
            <a:ext cx="5120640" cy="21488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29768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7171"/>
                </a:solidFill>
              </a:defRPr>
            </a:pPr>
            <a:r>
              <a:t>❌ Poor Error Handling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Most Stellar dApps show cryptic transaction errors. No contextual recovery hints, no retry logic, no distinction between wallet errors and network failures.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A3E635"/>
                </a:solidFill>
              </a:defRPr>
            </a:pPr>
            <a:r>
              <a:t>● 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StellarSwap+ — Unified DEX &amp;</a:t>
            </a:r>
            <a:r>
              <a:rPr sz="2500" b="1">
                <a:solidFill>
                  <a:srgbClr val="A3E635"/>
                </a:solidFill>
              </a:rPr>
              <a:t> Escrow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03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 single production-ready dApp that combines Stellar's native path payment swap engine with a custom Soroban Rust escrow vault — all through one multi-wallet interface.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28416" cy="3931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28712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3E635"/>
                </a:solidFill>
              </a:defRPr>
            </a:pPr>
            <a:r>
              <a:t>⚡ Path Payment DEX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Native Orderbook Routing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</a:defRPr>
            </a:pPr>
            <a:r>
              <a:t>• Execute XLM ↔ USDC swaps via Stellar's native orderbook path payments.</a:t>
            </a:r>
            <a:br/>
            <a:r>
              <a:t>• Zero smart contract vulnerability for standard swaps.</a:t>
            </a:r>
            <a:br/>
            <a:r>
              <a:t>• Best execution rate across multiple intermediate assets.</a:t>
            </a:r>
            <a:br/>
            <a:r>
              <a:t>• Sub-second route calculation with customizable slippage.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2011680"/>
            <a:ext cx="3328416" cy="3931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240280"/>
            <a:ext cx="28712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2D3EE"/>
                </a:solidFill>
              </a:defRPr>
            </a:pPr>
            <a:r>
              <a:t>🔒 Soroban Escrow Vault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Trustless Custody Engine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</a:defRPr>
            </a:pPr>
            <a:r>
              <a:t>• Create → Fund → Release/Refund lifecycle in Soroban Rust.</a:t>
            </a:r>
            <a:br/>
            <a:r>
              <a:t>• Time-locked asset custody with automated timeout refunds.</a:t>
            </a:r>
            <a:br/>
            <a:r>
              <a:t>• All on-chain, auditable, and decentralized on Testnet.</a:t>
            </a:r>
            <a:br/>
            <a:r>
              <a:t>• Live contract event emission synced to reactive event feed.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2011680"/>
            <a:ext cx="3328416" cy="3931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240280"/>
            <a:ext cx="287121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👛 Multi-Wallet Kit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Universal Onboarding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</a:defRPr>
            </a:pPr>
            <a:r>
              <a:t>• Freighter, Albedo, Lobstr, xBull, Rabet, and Demo Account.</a:t>
            </a:r>
            <a:br/>
            <a:r>
              <a:t>• One universal connection modal with web auth fallback.</a:t>
            </a:r>
            <a:br/>
            <a:r>
              <a:t>• Non-custodial signing for all operations with clear error states.</a:t>
            </a:r>
            <a:br/>
            <a:r>
              <a:t>• Horizon balance loading with dynamic reserve calculation.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2D3EE"/>
                </a:solidFill>
              </a:defRPr>
            </a:pPr>
            <a:r>
              <a:t>● 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Market</a:t>
            </a:r>
            <a:r>
              <a:rPr sz="2500" b="1">
                <a:solidFill>
                  <a:srgbClr val="22D3EE"/>
                </a:solidFill>
              </a:rPr>
              <a:t>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04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846320" cy="12344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3891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3E635"/>
                </a:solidFill>
              </a:defRPr>
            </a:pPr>
            <a:r>
              <a:t>$500M+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Stellar DEX Monthly Volume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4846320" cy="12344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43891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2D3EE"/>
                </a:solidFill>
              </a:defRPr>
            </a:pPr>
            <a:r>
              <a:t>8M+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Stellar Active Accounts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4846320" cy="12344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709160"/>
            <a:ext cx="43891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BBF24"/>
                </a:solidFill>
              </a:defRPr>
            </a:pPr>
            <a:r>
              <a:t>$0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Escrow Solutions on Stellar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645920"/>
            <a:ext cx="5394960" cy="41605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48463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Why Stellar?</a:t>
            </a:r>
          </a:p>
          <a:p>
            <a:pPr>
              <a:spcBef>
                <a:spcPts val="900"/>
              </a:spcBef>
            </a:pPr>
            <a:r>
              <a:rPr b="1" sz="1100">
                <a:solidFill>
                  <a:srgbClr val="A3E635"/>
                </a:solidFill>
              </a:rPr>
              <a:t>✓  3-5 second finality — </a:t>
            </a:r>
            <a:r>
              <a:rPr sz="1000">
                <a:solidFill>
                  <a:srgbClr val="94A3B8"/>
                </a:solidFill>
              </a:rPr>
              <a:t>Instant transaction confirmation for DEX trades and escrow actions.</a:t>
            </a:r>
          </a:p>
          <a:p>
            <a:pPr>
              <a:spcBef>
                <a:spcPts val="900"/>
              </a:spcBef>
            </a:pPr>
            <a:r>
              <a:rPr b="1" sz="1100">
                <a:solidFill>
                  <a:srgbClr val="A3E635"/>
                </a:solidFill>
              </a:rPr>
              <a:t>✓  ~$0.00001 per transaction — </a:t>
            </a:r>
            <a:r>
              <a:rPr sz="1000">
                <a:solidFill>
                  <a:srgbClr val="94A3B8"/>
                </a:solidFill>
              </a:rPr>
              <a:t>Near-zero transaction fees make micro-swaps and escrow affordable.</a:t>
            </a:r>
          </a:p>
          <a:p>
            <a:pPr>
              <a:spcBef>
                <a:spcPts val="900"/>
              </a:spcBef>
            </a:pPr>
            <a:r>
              <a:rPr b="1" sz="1100">
                <a:solidFill>
                  <a:srgbClr val="A3E635"/>
                </a:solidFill>
              </a:rPr>
              <a:t>✓  Native path payment for DEX aggregation — </a:t>
            </a:r>
            <a:r>
              <a:rPr sz="1000">
                <a:solidFill>
                  <a:srgbClr val="94A3B8"/>
                </a:solidFill>
              </a:rPr>
              <a:t>Built-in orderbook routing finds best multi-hop conversion rates.</a:t>
            </a:r>
          </a:p>
          <a:p>
            <a:pPr>
              <a:spcBef>
                <a:spcPts val="900"/>
              </a:spcBef>
            </a:pPr>
            <a:r>
              <a:rPr b="1" sz="1100">
                <a:solidFill>
                  <a:srgbClr val="A3E635"/>
                </a:solidFill>
              </a:rPr>
              <a:t>✓  Soroban smart contracts (Rust/WASM) — </a:t>
            </a:r>
            <a:r>
              <a:rPr sz="1000">
                <a:solidFill>
                  <a:srgbClr val="94A3B8"/>
                </a:solidFill>
              </a:rPr>
              <a:t>Turing-complete, high-speed contract engine with deterministic state.</a:t>
            </a:r>
          </a:p>
          <a:p>
            <a:pPr>
              <a:spcBef>
                <a:spcPts val="900"/>
              </a:spcBef>
            </a:pPr>
            <a:r>
              <a:rPr b="1" sz="1100">
                <a:solidFill>
                  <a:srgbClr val="A3E635"/>
                </a:solidFill>
              </a:rPr>
              <a:t>✓  Growing ecosystem &amp; institutional adoption — </a:t>
            </a:r>
            <a:r>
              <a:rPr sz="1000">
                <a:solidFill>
                  <a:srgbClr val="94A3B8"/>
                </a:solidFill>
              </a:rPr>
              <a:t>USDC &amp; EURC anchors with multi-billion dollar real-world asset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A3E635"/>
                </a:solidFill>
              </a:defRPr>
            </a:pPr>
            <a:r>
              <a:t>●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Technical</a:t>
            </a:r>
            <a:r>
              <a:rPr sz="2500" b="1">
                <a:solidFill>
                  <a:srgbClr val="A3E635"/>
                </a:solidFill>
              </a:rPr>
              <a:t>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05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</a:defRPr>
            </a:pPr>
            <a:r>
              <a:t>FRONTEND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React 18 + TypeScript + Vite: </a:t>
            </a:r>
            <a:r>
              <a:rPr sz="900">
                <a:solidFill>
                  <a:srgbClr val="94A3B8"/>
                </a:solidFill>
              </a:rPr>
              <a:t>Type-safe modular application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TailwindCSS + Custom Dark Theme: </a:t>
            </a:r>
            <a:r>
              <a:rPr sz="900">
                <a:solidFill>
                  <a:srgbClr val="94A3B8"/>
                </a:solidFill>
              </a:rPr>
              <a:t>Rich glassmorphism design system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React.lazy() Code Splitting: </a:t>
            </a:r>
            <a:r>
              <a:rPr sz="900">
                <a:solidFill>
                  <a:srgbClr val="94A3B8"/>
                </a:solidFill>
              </a:rPr>
              <a:t>Resilient chunk loading with retry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Sentry SDK + Web Vitals: </a:t>
            </a:r>
            <a:r>
              <a:rPr sz="900">
                <a:solidFill>
                  <a:srgbClr val="94A3B8"/>
                </a:solidFill>
              </a:rPr>
              <a:t>Real-time client monitoring &amp; telemetry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StellarWalletsKit Multi-Wallet: </a:t>
            </a:r>
            <a:r>
              <a:rPr sz="900">
                <a:solidFill>
                  <a:srgbClr val="94A3B8"/>
                </a:solidFill>
              </a:rPr>
              <a:t>Universal wallet adapter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D3EE"/>
                </a:solidFill>
              </a:defRPr>
            </a:pPr>
            <a:r>
              <a:t>SMART CONTRACTS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Soroban Escrow Vault (Rust): </a:t>
            </a:r>
            <a:r>
              <a:rPr sz="900">
                <a:solidFill>
                  <a:srgbClr val="94A3B8"/>
                </a:solidFill>
              </a:rPr>
              <a:t>Create, fund, release, &amp; timeout refund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Soroban AMM Swap Pool (Rust): </a:t>
            </a:r>
            <a:r>
              <a:rPr sz="900">
                <a:solidFill>
                  <a:srgbClr val="94A3B8"/>
                </a:solidFill>
              </a:rPr>
              <a:t>Constant-product liquidity pool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13 Unit Tests (7 + 6): </a:t>
            </a:r>
            <a:r>
              <a:rPr sz="900">
                <a:solidFill>
                  <a:srgbClr val="94A3B8"/>
                </a:solidFill>
              </a:rPr>
              <a:t>100% test coverage for contracts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cargo fmt + build + test CI: </a:t>
            </a:r>
            <a:r>
              <a:rPr sz="900">
                <a:solidFill>
                  <a:srgbClr val="94A3B8"/>
                </a:solidFill>
              </a:rPr>
              <a:t>Strict linting and automated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CI/CD PIPELINE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GitHub Actions — Contract CI: </a:t>
            </a:r>
            <a:r>
              <a:rPr sz="900">
                <a:solidFill>
                  <a:srgbClr val="94A3B8"/>
                </a:solidFill>
              </a:rPr>
              <a:t>WASM target build and test matrix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GitHub Actions — Frontend CI: </a:t>
            </a:r>
            <a:r>
              <a:rPr sz="900">
                <a:solidFill>
                  <a:srgbClr val="94A3B8"/>
                </a:solidFill>
              </a:rPr>
              <a:t>Typecheck, lint, and build verification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GitHub Actions — CD Deploy: </a:t>
            </a:r>
            <a:r>
              <a:rPr sz="900">
                <a:solidFill>
                  <a:srgbClr val="94A3B8"/>
                </a:solidFill>
              </a:rPr>
              <a:t>Automated production deployment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Vercel Production Hosting: </a:t>
            </a:r>
            <a:r>
              <a:rPr sz="900">
                <a:solidFill>
                  <a:srgbClr val="94A3B8"/>
                </a:solidFill>
              </a:rPr>
              <a:t>Edge-optimized global CDN distribution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120640" cy="201168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776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INFRASTRUCTURE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Stellar Horizon API + Soroban RPC: </a:t>
            </a:r>
            <a:r>
              <a:rPr sz="900">
                <a:solidFill>
                  <a:srgbClr val="94A3B8"/>
                </a:solidFill>
              </a:rPr>
              <a:t>Live testnet blockchain connectivity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Content Security Policy (CSP): </a:t>
            </a:r>
            <a:r>
              <a:rPr sz="900">
                <a:solidFill>
                  <a:srgbClr val="94A3B8"/>
                </a:solidFill>
              </a:rPr>
              <a:t>XSS &amp; script injection protection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Exponential Backoff Retry: </a:t>
            </a:r>
            <a:r>
              <a:rPr sz="900">
                <a:solidFill>
                  <a:srgbClr val="94A3B8"/>
                </a:solidFill>
              </a:rPr>
              <a:t>Network resilience with jitter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ErrorBoundary + Crash Recovery: </a:t>
            </a:r>
            <a:r>
              <a:rPr sz="900">
                <a:solidFill>
                  <a:srgbClr val="94A3B8"/>
                </a:solidFill>
              </a:rPr>
              <a:t>Zero white-screens guarantee</a:t>
            </a:r>
          </a:p>
          <a:p>
            <a:pPr>
              <a:spcBef>
                <a:spcPts val="300"/>
              </a:spcBef>
            </a:pPr>
            <a:r>
              <a:rPr b="1" sz="950">
                <a:solidFill>
                  <a:srgbClr val="FFFFFF"/>
                </a:solidFill>
              </a:rPr>
              <a:t>• Environment Variables (.env): </a:t>
            </a:r>
            <a:r>
              <a:rPr sz="900">
                <a:solidFill>
                  <a:srgbClr val="94A3B8"/>
                </a:solidFill>
              </a:rPr>
              <a:t>Production config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A3E635"/>
                </a:solidFill>
              </a:defRPr>
            </a:pPr>
            <a:r>
              <a:t>●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Growth &amp;</a:t>
            </a:r>
            <a:r>
              <a:rPr sz="2500" b="1">
                <a:solidFill>
                  <a:srgbClr val="A3E635"/>
                </a:solidFill>
              </a:rPr>
              <a:t>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06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0515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5603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A3E635"/>
                </a:solidFill>
              </a:defRPr>
            </a:pPr>
            <a:r>
              <a:t>52+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Testnet 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63040"/>
            <a:ext cx="2560320" cy="10515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6432" y="1554480"/>
            <a:ext cx="25603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2D3EE"/>
                </a:solidFill>
              </a:defRPr>
            </a:pPr>
            <a:r>
              <a:t>170+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Transactions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463040"/>
            <a:ext cx="2560320" cy="10515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1344" y="1554480"/>
            <a:ext cx="25603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4.44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Avg Rating (out of 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463040"/>
            <a:ext cx="2560320" cy="10515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6256" y="1554480"/>
            <a:ext cx="25603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99.8%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Platform Uptime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97480"/>
            <a:ext cx="5120640" cy="35661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8346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3E635"/>
                </a:solidFill>
              </a:defRPr>
            </a:pPr>
            <a:r>
              <a:t>USER FEEDBACK HIGHLIGHTS</a:t>
            </a:r>
          </a:p>
          <a:p>
            <a:pPr>
              <a:spcBef>
                <a:spcPts val="600"/>
              </a:spcBef>
              <a:defRPr sz="950" i="1">
                <a:solidFill>
                  <a:srgbClr val="FFFFFF"/>
                </a:solidFill>
              </a:defRPr>
            </a:pPr>
            <a:r>
              <a:t>"Connecting via Freighter was instant, and the real-time event feed confirmed the path payment in under 2 seconds."</a:t>
            </a:r>
          </a:p>
          <a:p>
            <a:pPr>
              <a:defRPr sz="850">
                <a:solidFill>
                  <a:srgbClr val="22D3EE"/>
                </a:solidFill>
              </a:defRPr>
            </a:pPr>
            <a:r>
              <a:t>— User #1 (5/5)</a:t>
            </a:r>
          </a:p>
          <a:p>
            <a:pPr>
              <a:spcBef>
                <a:spcPts val="600"/>
              </a:spcBef>
              <a:defRPr sz="950" i="1">
                <a:solidFill>
                  <a:srgbClr val="FFFFFF"/>
                </a:solidFill>
              </a:defRPr>
            </a:pPr>
            <a:r>
              <a:t>"The Escrow vault flow is super intuitive. Creating, funding, and releasing funds was clean."</a:t>
            </a:r>
          </a:p>
          <a:p>
            <a:pPr>
              <a:defRPr sz="850">
                <a:solidFill>
                  <a:srgbClr val="22D3EE"/>
                </a:solidFill>
              </a:defRPr>
            </a:pPr>
            <a:r>
              <a:t>— User #3 (5/5)</a:t>
            </a:r>
          </a:p>
          <a:p>
            <a:pPr>
              <a:spcBef>
                <a:spcPts val="600"/>
              </a:spcBef>
              <a:defRPr sz="950" i="1">
                <a:solidFill>
                  <a:srgbClr val="FFFFFF"/>
                </a:solidFill>
              </a:defRPr>
            </a:pPr>
            <a:r>
              <a:t>"Loved Albedo fallback when Freighter wasn't installed. Zero white-screens."</a:t>
            </a:r>
          </a:p>
          <a:p>
            <a:pPr>
              <a:defRPr sz="850">
                <a:solidFill>
                  <a:srgbClr val="22D3EE"/>
                </a:solidFill>
              </a:defRPr>
            </a:pPr>
            <a:r>
              <a:t>— User #5 (5/5)</a:t>
            </a:r>
          </a:p>
          <a:p>
            <a:pPr>
              <a:spcBef>
                <a:spcPts val="600"/>
              </a:spcBef>
              <a:defRPr sz="950" i="1">
                <a:solidFill>
                  <a:srgbClr val="FFFFFF"/>
                </a:solidFill>
              </a:defRPr>
            </a:pPr>
            <a:r>
              <a:t>"The swap was instantaneous! Extremely clean interface for swapping XLM."</a:t>
            </a:r>
          </a:p>
          <a:p>
            <a:pPr>
              <a:defRPr sz="850">
                <a:solidFill>
                  <a:srgbClr val="22D3EE"/>
                </a:solidFill>
              </a:defRPr>
            </a:pPr>
            <a:r>
              <a:t>— Aarav S. (5/5)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697480"/>
            <a:ext cx="5303520" cy="356616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1E1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83464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IMPROVEMENTS MADE (FROM FEEDBACK)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Added NPS survey + feature request picker (Commit 0088148)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Added Analytics Dashboard with export proof (Commit 053d027)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Improved onboarding with Google Form embed (Commit 4d5a948)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Added trust badges on landing page (Commit 671b3cd)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Expanded features section from 3 → 6 (Commit 671b3cd)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Added share/referral CTA for user growth (Commit 0088148)</a:t>
            </a:r>
          </a:p>
          <a:p>
            <a:pPr>
              <a:spcBef>
                <a:spcPts val="500"/>
              </a:spcBef>
              <a:defRPr sz="950">
                <a:solidFill>
                  <a:srgbClr val="94A3B8"/>
                </a:solidFill>
              </a:defRPr>
            </a:pPr>
            <a:r>
              <a:t>✅ Enhanced mobile 3-tab responsive navigation (Commit be729bd)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t>● 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Growth</a:t>
            </a:r>
            <a:r>
              <a:rPr sz="2500" b="1">
                <a:solidFill>
                  <a:srgbClr val="3B82F6"/>
                </a:solidFill>
              </a:rPr>
              <a:t>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07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</a:defRPr>
            </a:pPr>
            <a:r>
              <a:t>📣 Community Outreach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Google Form onboarding, social media campaigns, Stellar Discord/Reddit engagement, and referral links for organic user acquisition.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78308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D3EE"/>
                </a:solidFill>
              </a:defRPr>
            </a:pPr>
            <a:r>
              <a:t>🤝 Ecosystem Partnerships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Integrate with Stellar anchor services, partner with Soroban dApp builders, and participate in SCF grants for ecosystem visibility.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4592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78308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🔄 Product-Led Growth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In-app feedback loops, post-transaction rating widgets, NPS surveys, and feature voting to drive retention and iteration.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📊 Data-Driven Iteration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Analytics dashboard, Sentry error tracking, Web Vitals monitoring, and user growth tracking to prioritize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384048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397764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78BFA"/>
                </a:solidFill>
              </a:defRPr>
            </a:pPr>
            <a:r>
              <a:t>🎯 Content &amp; Education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Demo videos, pitch decks, blog posts, and step-by-step guides to reduce onboarding friction and build trust.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3840480"/>
            <a:ext cx="3328416" cy="192024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397764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🏆 Incentivized Testing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Testnet XLM faucet, Friendbot integration, and gamified milestone badges to encourage exploration and repeated usage.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A3E635"/>
                </a:solidFill>
              </a:defRPr>
            </a:pPr>
            <a:r>
              <a:t>●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Future</a:t>
            </a:r>
            <a:r>
              <a:rPr sz="2500" b="1">
                <a:solidFill>
                  <a:srgbClr val="A3E635"/>
                </a:solidFill>
              </a:rPr>
              <a:t>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1148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94A3B8"/>
                </a:solidFill>
              </a:defRPr>
            </a:pPr>
            <a:r>
              <a:t>08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804672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714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3E635"/>
                </a:solidFill>
              </a:rPr>
              <a:t>Q3 2026 — </a:t>
            </a:r>
            <a:r>
              <a:rPr b="1" sz="1100">
                <a:solidFill>
                  <a:srgbClr val="FFFFFF"/>
                </a:solidFill>
              </a:rPr>
              <a:t>Mainnet Launch: </a:t>
            </a:r>
            <a:r>
              <a:rPr sz="1000">
                <a:solidFill>
                  <a:srgbClr val="94A3B8"/>
                </a:solidFill>
              </a:rPr>
              <a:t>Deploy Soroban contracts to Stellar Mainnet. Audit smart contracts. Enable real-value token swaps and escrow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05456"/>
            <a:ext cx="10728655" cy="804672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96896"/>
            <a:ext cx="102714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22D3EE"/>
                </a:solidFill>
              </a:rPr>
              <a:t>Q4 2026 — </a:t>
            </a:r>
            <a:r>
              <a:rPr b="1" sz="1100">
                <a:solidFill>
                  <a:srgbClr val="FFFFFF"/>
                </a:solidFill>
              </a:rPr>
              <a:t>Advanced Features: </a:t>
            </a:r>
            <a:r>
              <a:rPr sz="1000">
                <a:solidFill>
                  <a:srgbClr val="94A3B8"/>
                </a:solidFill>
              </a:rPr>
              <a:t>Multi-token escrow support, batch operations, price alerts, limit orders, and cross-asset liquidity pools.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56432"/>
            <a:ext cx="10728655" cy="804672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47872"/>
            <a:ext cx="102714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3B82F6"/>
                </a:solidFill>
              </a:rPr>
              <a:t>Q1 2027 — </a:t>
            </a:r>
            <a:r>
              <a:rPr b="1" sz="1100">
                <a:solidFill>
                  <a:srgbClr val="FFFFFF"/>
                </a:solidFill>
              </a:rPr>
              <a:t>Mobile &amp; SDK: </a:t>
            </a:r>
            <a:r>
              <a:rPr sz="1000">
                <a:solidFill>
                  <a:srgbClr val="94A3B8"/>
                </a:solidFill>
              </a:rPr>
              <a:t>React Native mobile app, developer SDK for third-party integrations, and API for programmatic escrow creation.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07408"/>
            <a:ext cx="10728655" cy="804672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498848"/>
            <a:ext cx="102714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FBBF24"/>
                </a:solidFill>
              </a:rPr>
              <a:t>Q2 2027 — </a:t>
            </a:r>
            <a:r>
              <a:rPr b="1" sz="1100">
                <a:solidFill>
                  <a:srgbClr val="FFFFFF"/>
                </a:solidFill>
              </a:rPr>
              <a:t>Governance &amp; Scaling: </a:t>
            </a:r>
            <a:r>
              <a:rPr sz="1000">
                <a:solidFill>
                  <a:srgbClr val="94A3B8"/>
                </a:solidFill>
              </a:rPr>
              <a:t>Community governance for fee parameters, protocol upgrades via DAO voting, and multi-chain bridge exploration.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58384"/>
            <a:ext cx="10728655" cy="804672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49824"/>
            <a:ext cx="102714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78BFA"/>
                </a:solidFill>
              </a:rPr>
              <a:t>Q3 2027 — </a:t>
            </a:r>
            <a:r>
              <a:rPr b="1" sz="1100">
                <a:solidFill>
                  <a:srgbClr val="FFFFFF"/>
                </a:solidFill>
              </a:rPr>
              <a:t>Enterprise Escrow: </a:t>
            </a:r>
            <a:r>
              <a:rPr sz="1000">
                <a:solidFill>
                  <a:srgbClr val="94A3B8"/>
                </a:solidFill>
              </a:rPr>
              <a:t>B2B escrow-as-a-service for freelance platforms, marketplace integrations, and cross-border payment escrow.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2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628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Let's Build the Future of
</a:t>
            </a:r>
            <a:r>
              <a:rPr sz="3800" b="1">
                <a:solidFill>
                  <a:srgbClr val="A3E635"/>
                </a:solidFill>
              </a:rPr>
              <a:t>Stellar DeFi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4A3B8"/>
                </a:solidFill>
              </a:defRPr>
            </a:pPr>
            <a:r>
              <a:t>StellarSwap+ is ready for the next phase — Mainnet launch, advanced features, and ecosystem partnerships.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474720"/>
            <a:ext cx="3328416" cy="1645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296265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A3E635"/>
                </a:solidFill>
              </a:defRPr>
            </a:pPr>
            <a:r>
              <a:t>LIVE APP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stellar-swap-pro.vercel.app ↗</a:t>
            </a:r>
          </a:p>
          <a:p>
            <a:pPr algn="ctr"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Production Vercel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3474720"/>
            <a:ext cx="3328416" cy="1645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3657600"/>
            <a:ext cx="296265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22D3EE"/>
                </a:solidFill>
              </a:defRPr>
            </a:pPr>
            <a:r>
              <a:t>GITHUB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ps910/StellarSwap-Pro ↗</a:t>
            </a:r>
          </a:p>
          <a:p>
            <a:pPr algn="ctr"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Open Source Repository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3474720"/>
            <a:ext cx="3328416" cy="1645920"/>
          </a:xfrm>
          <a:prstGeom prst="roundRect">
            <a:avLst/>
          </a:prstGeom>
          <a:solidFill>
            <a:srgbClr val="09090B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3657600"/>
            <a:ext cx="296265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BBF24"/>
                </a:solidFill>
              </a:defRPr>
            </a:pPr>
            <a:r>
              <a:t>FEEDBACK FORM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Feedback Responses ↗</a:t>
            </a:r>
          </a:p>
          <a:p>
            <a:pPr algn="ctr"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50 Verified Submissions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Built with ❤️ on Stellar • StellarSwap+ • Level 5 Blue Belt Submission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